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6" r:id="rId3"/>
    <p:sldId id="257" r:id="rId5"/>
    <p:sldId id="269" r:id="rId6"/>
    <p:sldId id="270" r:id="rId7"/>
    <p:sldId id="271" r:id="rId8"/>
    <p:sldId id="277" r:id="rId9"/>
    <p:sldId id="272" r:id="rId10"/>
    <p:sldId id="278" r:id="rId11"/>
    <p:sldId id="273" r:id="rId12"/>
    <p:sldId id="274" r:id="rId13"/>
    <p:sldId id="275" r:id="rId14"/>
    <p:sldId id="276" r:id="rId15"/>
    <p:sldId id="268" r:id="rId16"/>
  </p:sldIdLst>
  <p:sldSz cx="9144000" cy="6858000" type="screen4x3"/>
  <p:notesSz cx="7559675" cy="106914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18" d="100"/>
          <a:sy n="118" d="100"/>
        </p:scale>
        <p:origin x="-1482" y="-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customXml" Target="../customXml/item3.xml"/><Relationship Id="rId22" Type="http://schemas.openxmlformats.org/officeDocument/2006/relationships/customXml" Target="../customXml/item2.xml"/><Relationship Id="rId21" Type="http://schemas.openxmlformats.org/officeDocument/2006/relationships/customXml" Target="../customXml/item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3"/>
          <a:srcRect b="10718"/>
          <a:stretch>
            <a:fillRect/>
          </a:stretch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3"/>
            <a:srcRect b="10718"/>
            <a:stretch>
              <a:fillRect/>
            </a:stretch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4"/>
          <a:stretch>
            <a:fillRect/>
          </a:stretch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742950" lvl="1" indent="-28575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143000" lvl="2" indent="-227965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1600200" lvl="3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057400" lvl="4" indent="-227965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 panose="020B0604020202020204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 panose="02020603050405020304"/>
              </a:rPr>
              <a:t>Name</a:t>
            </a:r>
            <a:endParaRPr lang="en-GB" sz="2400" b="0" strike="noStrike" spc="-1">
              <a:latin typeface="Times New Roman" panose="02020603050405020304"/>
            </a:endParaRP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(Module-2) </a:t>
            </a:r>
            <a:r>
              <a:rPr lang="en-IN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  <a:endParaRPr lang="en-IN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altLang="en-US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Integrating AI for Demand Forecasting in Online Marketplaces and ERP Systems</a:t>
            </a:r>
            <a:endParaRPr lang="en-US" alt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</a:br>
            <a:r>
              <a:rPr lang="en-US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Vamika (2210992495) &amp; Akriti Patial (2210991221)</a:t>
            </a: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alt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Supervised By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Dr. Ajay K</a:t>
            </a:r>
            <a:r>
              <a:rPr lang="en-IN" alt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uma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r</a:t>
            </a: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Computer Science and Engineering, 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Chitkara University, Punjab</a:t>
            </a:r>
            <a:endParaRPr lang="en-US" sz="2400" b="0" strike="noStrike" spc="-1" dirty="0">
              <a:latin typeface="Times New Roman" panose="02020603050405020304" pitchFamily="18" charset="0"/>
              <a:ea typeface="MS PGothic" panose="020B0600070205080204" charset="-128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25781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alt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ERP &amp; Operations</a:t>
            </a:r>
            <a:endParaRPr lang="en-US" altLang="en-GB" sz="3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3830" y="1109980"/>
            <a:ext cx="4719320" cy="48387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altLang="en-US" sz="24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Operational Backbone</a:t>
            </a:r>
            <a:endParaRPr lang="en-US" altLang="en-US" sz="24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alt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Integration: ERP systems unify purchasing, manufacturing, sales, and HR.</a:t>
            </a: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alt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Goal: Maintain minimal inventory while achieving 99% order fulfillment.</a:t>
            </a: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altLang="en-US" sz="19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Gap: Legacy systems rely on fixed rules that fail in dynamic digital markets.</a:t>
            </a: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alt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0" y="1701800"/>
            <a:ext cx="4090035" cy="27609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351405" y="3607435"/>
            <a:ext cx="3154045" cy="460375"/>
          </a:xfrm>
          <a:prstGeom prst="rect">
            <a:avLst/>
          </a:prstGeom>
        </p:spPr>
        <p:txBody>
          <a:bodyPr wrap="square">
            <a:no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1600" y="174625"/>
            <a:ext cx="62318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8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Problem Statement &amp; Objectives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endParaRPr lang="en-US"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94885" y="1918970"/>
            <a:ext cx="3791585" cy="2780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29285" y="1918335"/>
            <a:ext cx="3817620" cy="28225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/>
              <a:t>Result: Excess inventory (dead stock) or missed revenue (stockouts).</a:t>
            </a:r>
            <a:endParaRPr lang="en-US" altLang="en-US"/>
          </a:p>
          <a:p>
            <a:pPr algn="ctr"/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836295" y="2042795"/>
            <a:ext cx="361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Traditional Limitations</a:t>
            </a:r>
            <a:endParaRPr lang="en-US" altLang="en-US" b="1"/>
          </a:p>
          <a:p>
            <a:endParaRPr lang="en-US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836295" y="2520315"/>
            <a:ext cx="3611245" cy="2019935"/>
          </a:xfrm>
          <a:prstGeom prst="rect">
            <a:avLst/>
          </a:prstGeom>
        </p:spPr>
        <p:txBody>
          <a:bodyPr wrap="square">
            <a:no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Customary ERP implementations use Univariate analysis (SMA/WMA) which assumes the future is a simple linear projection of the past.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Result: Excess inventory (dead stock) or missed revenue (stockouts).</a:t>
            </a:r>
            <a:endParaRPr lang="en-US" altLang="en-US"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875530" y="2029460"/>
            <a:ext cx="3578860" cy="2669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 Hybrid Integration Framework designed to bridge the Internal ERP SQL database with External Marketplace APIs.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Goal: Move from reactive "lagging" statistics to proactive "leading" AI predictions.</a:t>
            </a:r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9230" y="207645"/>
            <a:ext cx="6177280" cy="5219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Literature Review &amp; Research Gaps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298450" y="2037080"/>
            <a:ext cx="2462530" cy="23399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3209290" y="2037080"/>
            <a:ext cx="2609850" cy="233997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365875" y="2036445"/>
            <a:ext cx="2480310" cy="234061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512445" y="2219325"/>
            <a:ext cx="381000" cy="3898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89255" y="26628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Phase 1: Time Series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413385" y="2947035"/>
            <a:ext cx="224917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ARIMA &amp; Exponential Smoothing (Gardner, 2006). 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Effective 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but struggle with retail volatility and seasonality.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487738" y="2219008"/>
            <a:ext cx="485775" cy="39052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374390" y="2626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Phase 2: ML Rise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374390" y="2947035"/>
            <a:ext cx="221742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Carbonneau et al. (2008) used SVMs to tackle the "Bullwhip Effect". Demonstrated ML beats classical models.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6568440" y="2235518"/>
            <a:ext cx="342900" cy="390525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6417945" y="26260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Phase 3: Hybrid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6417945" y="2947035"/>
            <a:ext cx="245618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Sentiment analysis (Thiebaut, 2023) improves predictions by 12%. This work adds Competitor Pricing as a variable.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88620" y="4589780"/>
            <a:ext cx="835914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1600" b="0" i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Gap Identified: Lack of practical ETL documentation for combining SQL and JSON data for B.Tech frameworks.</a:t>
            </a:r>
            <a:endParaRPr sz="1600" b="0" i="1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27000" y="27400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Research Methodology &amp; Data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712335" y="1725930"/>
            <a:ext cx="4113530" cy="286131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6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Dual Data Strategy</a:t>
            </a:r>
            <a:endParaRPr sz="2600" b="1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2600" b="1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Internal (ERP):</a:t>
            </a:r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4 years of transactional SKU-level sales, price, and quantity.</a:t>
            </a:r>
            <a:endParaRPr sz="1600" b="0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External (Market):</a:t>
            </a:r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API extracted market prices and "Consumer Trend Scores."</a:t>
            </a:r>
            <a:endParaRPr sz="1600" b="0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Preprocessing:</a:t>
            </a:r>
            <a:r>
              <a:rPr sz="1600" b="0" i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IQR outlier detection and Min-Max scaling for normalization.</a:t>
            </a:r>
            <a:endParaRPr sz="1600" b="0" i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1828165"/>
            <a:ext cx="4236085" cy="2905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5575" y="167640"/>
            <a:ext cx="60547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>
                <a:solidFill>
                  <a:schemeClr val="tx1"/>
                </a:solidFill>
              </a:rPr>
              <a:t>Feature Engineering Innovation</a:t>
            </a:r>
            <a:endParaRPr lang="en-US" altLang="en-US" sz="2800">
              <a:solidFill>
                <a:schemeClr val="tx1"/>
              </a:solidFill>
            </a:endParaRPr>
          </a:p>
          <a:p>
            <a:endParaRPr lang="en-US" altLang="en-US" sz="2800"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7965" y="1442720"/>
            <a:ext cx="7921625" cy="33718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The </a:t>
            </a: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Feature Fusion Layer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combines internal and external signals for higher precision: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298450" y="2101850"/>
            <a:ext cx="2462530" cy="23399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3471545" y="2101850"/>
            <a:ext cx="2462530" cy="233997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6518275" y="2101850"/>
            <a:ext cx="2462530" cy="23399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74015" y="22825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Price Elasticity Index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587115" y="22825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Seasonality Lag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644640" y="22825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7-Day Rolling Mean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374015" y="2693670"/>
            <a:ext cx="228981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Ratio of internal SKU price vs. the average market competitor price. Identifies competitive advantage.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3648710" y="2693670"/>
            <a:ext cx="213487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Captures 12-month historical sales patterns to account for annual recurring peaks and troughs.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6671310" y="2693670"/>
            <a:ext cx="2176780" cy="13220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A moving average of the last 7 days to smooth out weekend noise and identify immediate trends.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98755" y="1318260"/>
            <a:ext cx="4618355" cy="329184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endParaRPr sz="32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Baseline: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 Simple Moving Average (SMA) for comparison.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Linear Regression: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 Establishing the base relationship between price and demand.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Random Forest (RFR):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 The chosen ensemble model.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Interpretability: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 RFR was selected specifically for its ability to rank </a:t>
            </a: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Feature Importance</a:t>
            </a: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, solving the "Black Box" problem.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2710" y="143510"/>
            <a:ext cx="60134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8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Machine Learning Model Selection</a:t>
            </a:r>
            <a:endParaRPr lang="en-US" sz="28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255" y="1747520"/>
            <a:ext cx="3998595" cy="27108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47955" y="151130"/>
            <a:ext cx="6037580" cy="5219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System Design &amp; Implementation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4" name="Picture 3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1452880" y="1196340"/>
            <a:ext cx="2462530" cy="233997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1452880" y="3818255"/>
            <a:ext cx="2462530" cy="23399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5431790" y="3818255"/>
            <a:ext cx="2462530" cy="233997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5431790" y="1196340"/>
            <a:ext cx="2462530" cy="233997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593850" y="1335405"/>
            <a:ext cx="312420" cy="2978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532255" y="17256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Data Tier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532255" y="2155190"/>
            <a:ext cx="2186305" cy="82994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PostgreSQL (Internal) + Web Scraper (Marketplace Signals).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5630545" y="1335405"/>
            <a:ext cx="394335" cy="29845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5502275" y="17395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Integration Tier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502275" y="2077085"/>
            <a:ext cx="2207260" cy="82994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Python-based ETL pipeline for data harmonization.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1593850" y="4059555"/>
            <a:ext cx="312420" cy="234950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1532255" y="44338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Analytics Tier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532255" y="4795520"/>
            <a:ext cx="2247900" cy="82994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Scikit-learn for model training &amp; hyperparameter tuning.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pic>
        <p:nvPicPr>
          <p:cNvPr id="16" name="Picture 15"/>
          <p:cNvPicPr/>
          <p:nvPr/>
        </p:nvPicPr>
        <p:blipFill>
          <a:blip r:embed="rId5">
            <a:biLevel thresh="75000"/>
          </a:blip>
          <a:stretch>
            <a:fillRect/>
          </a:stretch>
        </p:blipFill>
        <p:spPr>
          <a:xfrm>
            <a:off x="5630545" y="3977640"/>
            <a:ext cx="356235" cy="266700"/>
          </a:xfrm>
          <a:prstGeom prst="rect">
            <a:avLst/>
          </a:prstGeom>
        </p:spPr>
      </p:pic>
      <p:sp>
        <p:nvSpPr>
          <p:cNvPr id="17" name="Text Box 16"/>
          <p:cNvSpPr txBox="1"/>
          <p:nvPr/>
        </p:nvSpPr>
        <p:spPr>
          <a:xfrm>
            <a:off x="5502275" y="43418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Presentation</a:t>
            </a:r>
            <a:endParaRPr sz="16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8" name="Text Box 17"/>
          <p:cNvSpPr txBox="1"/>
          <p:nvPr/>
        </p:nvSpPr>
        <p:spPr>
          <a:xfrm>
            <a:off x="5502275" y="4685665"/>
            <a:ext cx="2206625" cy="82994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Streamlit dashboard for real-time inventory decisions.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640080" y="1692275"/>
          <a:ext cx="7863840" cy="179832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4958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Model Name</a:t>
                      </a:r>
                      <a:endParaRPr sz="1500" b="1" i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MAE (Units)</a:t>
                      </a:r>
                      <a:endParaRPr sz="1500" b="1" i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MAPE (%)</a:t>
                      </a:r>
                      <a:endParaRPr sz="1500" b="1" i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RMSE</a:t>
                      </a:r>
                      <a:endParaRPr sz="1500" b="1" i="0">
                        <a:solidFill>
                          <a:schemeClr val="bg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5088"/>
                    </a:solidFill>
                  </a:tcPr>
                </a:tc>
              </a:tr>
              <a:tr h="44958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Moving Average (Traditional)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542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26.4%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610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  <a:tr h="44958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Linear Regression (Base AI)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385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19.1%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0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402</a:t>
                      </a:r>
                      <a:endParaRPr sz="1500" b="0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49580"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Random Forest (Proposed)</a:t>
                      </a:r>
                      <a:endParaRPr sz="1500" b="1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122</a:t>
                      </a:r>
                      <a:endParaRPr sz="1500" b="1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7.8%</a:t>
                      </a:r>
                      <a:endParaRPr sz="1500" b="1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p>
                      <a:pPr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500" b="1" i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145</a:t>
                      </a:r>
                      <a:endParaRPr sz="1500" b="1" i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53657" marR="53657" marT="23177" marB="23177" anchor="ctr" anchorCtr="0">
                    <a:lnL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39445" y="4281170"/>
            <a:ext cx="7864475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Key Insight: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Random Forest achieved an 18.6% gain in accuracy over traditional methods, correctly predicting "Holiday Surges" where others failed.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8435" y="182245"/>
            <a:ext cx="5821045" cy="52197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Experimental Results &amp; Analysis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157480" y="16033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Strategic Discussion &amp; Impact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-508000" y="2281873"/>
            <a:ext cx="5080000" cy="1014730"/>
          </a:xfrm>
          <a:prstGeom prst="rect">
            <a:avLst/>
          </a:prstGeom>
        </p:spPr>
        <p:txBody>
          <a:bodyPr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6000" b="1" i="0">
                <a:solidFill>
                  <a:srgbClr val="005088"/>
                </a:solidFill>
                <a:latin typeface="Times New Roman" panose="02020603050405020304"/>
                <a:ea typeface="Times New Roman" panose="02020603050405020304"/>
              </a:rPr>
              <a:t>18.6%</a:t>
            </a:r>
            <a:endParaRPr sz="6000" b="1" i="0">
              <a:solidFill>
                <a:srgbClr val="005088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-151765" y="3178175"/>
            <a:ext cx="429768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Reduction in Forecast</a:t>
            </a:r>
            <a:endParaRPr sz="16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Error</a:t>
            </a:r>
            <a:endParaRPr sz="1600" b="1" i="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4064000" y="170021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Mitigating the Bullwhip Effect</a:t>
            </a:r>
            <a:endParaRPr sz="24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064000" y="221202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AI integration provides a "synchronized demand signal" predictive of market sentiment, reducing exponentially amplified upstream errors.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064000" y="329660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Democratization for SMEs</a:t>
            </a:r>
            <a:endParaRPr sz="24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4064000" y="376205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Proves that high-fidelity forecasting is feasible with open-source ML, bypassing the need for expensive "Black Box" deep learning infra.</a:t>
            </a:r>
            <a:endParaRPr sz="1600" b="0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2710" y="2061210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System of Intelligence: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Upgrades ERP from a passive record-keeper to a strategic planner.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Feature Quality: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High-quality marketplace telemetry is a stronger driver than neural network depth.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Sustainability: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Reduced dead stock leads to a more sustainable production-consumption cycle.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2710" y="140335"/>
            <a:ext cx="4572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Conclusion &amp; Synthesis</a:t>
            </a:r>
            <a:endParaRPr lang="en-US" sz="2800" b="1">
              <a:solidFill>
                <a:schemeClr val="tx1"/>
              </a:solidFill>
              <a:latin typeface="Times New Roman" panose="02020603050405020304"/>
              <a:ea typeface="Times New Roman" panose="02020603050405020304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2710" y="1838960"/>
            <a:ext cx="3721100" cy="2505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6205" y="222568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8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Future Scope &amp; References</a:t>
            </a:r>
            <a:endParaRPr sz="28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60985" y="145891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Future Directions</a:t>
            </a:r>
            <a:endParaRPr sz="24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61620" y="2004060"/>
            <a:ext cx="4595495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Deep Learning (LSTM):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To capture long-term seasonal trends better.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61620" y="2795270"/>
            <a:ext cx="4595495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Edge Computing: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Real-time calibrations on warehouse scanners.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260985" y="3510915"/>
            <a:ext cx="4421505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1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NLP Integration:</a:t>
            </a: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 Quantifying consumer review sentiments.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196205" y="145891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400" b="1" i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</a:rPr>
              <a:t>Key References</a:t>
            </a:r>
            <a:endParaRPr sz="2400" b="1" i="0">
              <a:solidFill>
                <a:schemeClr val="tx1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5196205" y="2004060"/>
            <a:ext cx="3751580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[1] Box &amp; Jenkins, "Time Series Analysis," 1970.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5196205" y="2795270"/>
            <a:ext cx="3751580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[3] Carbonneau et al., "ML for Supply Chain Forecasting," 2008.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5196205" y="3510915"/>
            <a:ext cx="3751580" cy="583565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334155"/>
                </a:solidFill>
                <a:latin typeface="Times New Roman" panose="02020603050405020304"/>
                <a:ea typeface="Times New Roman" panose="02020603050405020304"/>
              </a:rPr>
              <a:t>[6] Zhang &amp; Liu, "Google Trends &amp; Competitor Pricing," 2024.</a:t>
            </a:r>
            <a:endParaRPr sz="1600" b="0" i="0">
              <a:solidFill>
                <a:srgbClr val="334155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</a:fld>
            <a:endParaRPr lang="en-GB" sz="1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/>
</ds:datastoreItem>
</file>

<file path=customXml/itemProps2.xml><?xml version="1.0" encoding="utf-8"?>
<ds:datastoreItem xmlns:ds="http://schemas.openxmlformats.org/officeDocument/2006/customXml" ds:itemID="{737ED6F0-5E4C-4CD0-9B68-9C53F925A6F7}">
  <ds:schemaRefs/>
</ds:datastoreItem>
</file>

<file path=customXml/itemProps3.xml><?xml version="1.0" encoding="utf-8"?>
<ds:datastoreItem xmlns:ds="http://schemas.openxmlformats.org/officeDocument/2006/customXml" ds:itemID="{491DF113-39A2-46D5-BFDA-E63300A9ECA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4435</Words>
  <Application>WPS Presentation</Application>
  <PresentationFormat>On-screen Show (4:3)</PresentationFormat>
  <Paragraphs>200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MS PGothic</vt:lpstr>
      <vt:lpstr>Arial</vt:lpstr>
      <vt:lpstr>Times New Roman</vt:lpstr>
      <vt:lpstr>Times New Roman</vt:lpstr>
      <vt:lpstr>Calibri</vt:lpstr>
      <vt:lpstr>Microsoft YaHei</vt:lpstr>
      <vt:lpstr>Arial Unicode MS</vt:lpstr>
      <vt:lpstr>DejaVu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Vamika</cp:lastModifiedBy>
  <cp:revision>2307</cp:revision>
  <dcterms:created xsi:type="dcterms:W3CDTF">2010-04-09T07:36:00Z</dcterms:created>
  <dcterms:modified xsi:type="dcterms:W3CDTF">2026-05-18T15:30:42Z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  <property fmtid="{D5CDD505-2E9C-101B-9397-08002B2CF9AE}" pid="14" name="KSOProductBuildVer">
    <vt:lpwstr>1033-12.1.0.26372</vt:lpwstr>
  </property>
  <property fmtid="{D5CDD505-2E9C-101B-9397-08002B2CF9AE}" pid="15" name="ICV">
    <vt:lpwstr>C67A5D24CDCA4E5A8A9E7DFCEEFD0003_12</vt:lpwstr>
  </property>
</Properties>
</file>